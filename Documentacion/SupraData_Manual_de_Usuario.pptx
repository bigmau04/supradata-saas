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7ca25347-8502-311c-622c-364f41fd31fd}">
          <p14:sldIdLst>
            <p14:sldId id="256"/>
          </p14:sldIdLst>
        </p14:section>
        <p14:section name="Introducción" id="{77c714db-8322-5e32-e4f0-1f9626f4e4c7}">
          <p14:sldIdLst>
            <p14:sldId id="257"/>
            <p14:sldId id="258"/>
            <p14:sldId id="259"/>
          </p14:sldIdLst>
        </p14:section>
        <p14:section name="Panel gerencial" id="{5911aee1-cf7e-9683-14ba-381676d7f052}">
          <p14:sldIdLst>
            <p14:sldId id="260"/>
            <p14:sldId id="261"/>
          </p14:sldIdLst>
        </p14:section>
        <p14:section name="Recepción y caja" id="{8d1bdf43-0855-3c26-e867-0331b688a300}">
          <p14:sldIdLst>
            <p14:sldId id="262"/>
            <p14:sldId id="263"/>
            <p14:sldId id="264"/>
            <p14:sldId id="265"/>
            <p14:sldId id="266"/>
          </p14:sldIdLst>
        </p14:section>
        <p14:section name="Auditoría y arqueo ciego" id="{c3f955b5-5121-ddac-7c8b-e4ee0bf9f10d}">
          <p14:sldIdLst>
            <p14:sldId id="267"/>
            <p14:sldId id="268"/>
            <p14:sldId id="269"/>
            <p14:sldId id="270"/>
          </p14:sldIdLst>
        </p14:section>
        <p14:section name="Socios y WhatsApp" id="{b2845486-de6e-7ec9-c384-4f4236e880f6}">
          <p14:sldIdLst>
            <p14:sldId id="271"/>
            <p14:sldId id="272"/>
            <p14:sldId id="273"/>
            <p14:sldId id="274"/>
          </p14:sldIdLst>
        </p14:section>
        <p14:section name="Buenas prácticas" id="{8a0563f1-e20e-277b-938b-61256c0a4266}">
          <p14:sldIdLst>
            <p14:sldId id="275"/>
            <p14:sldId id="276"/>
          </p14:sldIdLst>
        </p14:section>
        <p14:section name="Cierre" id="{f6256e0f-aef3-94ab-6f44-9259dc70b2bd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 de usuario y guía operativa de SupraData.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1.1. Reemplaza al Excel tradicional.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1.2. Roles de usuario.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1.2. Cómo iniciar sesión por primera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2.1. Desglose de métricas principales.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2.2.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3.1. Apertura obligatoria de turno.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3.2. Dos métodos de validación.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3.2. Resultados del semáforo.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3.3. Uso de la cámara web.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3.4. Registro de pagos rápidos.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4.1. Qué es el arqueo ciego.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4.2. Pasos para cerrar el turno.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4.3. Módulo Finanzas (/dashboard/finances), para Propietario / Administrador.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4.3. Anulación de cobros.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5.1.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5.2. Ruta /pass/[token].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5.3. Etiquetas de salud de retención.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5.3. Cómo enviar el recordatorio.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6.1.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6.2.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Documentación oficial para la versión estable de SupraData.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2103120"/>
            <a:ext cx="63093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3657600"/>
            <a:ext cx="60350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SupraData · Manual de usuario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828800"/>
            <a:ext cx="65836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4114800"/>
            <a:ext cx="62179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portada"/>
          <p:cNvSpPr txBox="1"/>
          <p:nvPr/>
        </p:nvSpPr>
        <p:spPr>
          <a:xfrm>
            <a:off x="731520" y="1737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6"/>
                </a:solidFill>
              </a:rPr>
              <a:t>MANUAL DE USUARIO Y GUÍA OPERATIVA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210312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SupraData</a:t>
            </a:r>
            <a:endParaRPr lang="en-US" sz="6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365760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El sistema de gestión y copiloto financiero para tu gimnasio</a:t>
            </a:r>
            <a:endParaRPr lang="en-US" sz="2200" dirty="0"/>
          </a:p>
        </p:txBody>
      </p:sp>
      <p:sp>
        <p:nvSpPr>
          <p:cNvPr id="5" name="Audiencia"/>
          <p:cNvSpPr txBox="1"/>
          <p:nvPr/>
        </p:nvSpPr>
        <p:spPr>
          <a:xfrm>
            <a:off x="731520" y="5943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Para propietarios, administradores, recepcionistas y cajeros</a:t>
            </a:r>
            <a:endParaRPr lang="en-US" sz="1400" dirty="0"/>
          </a:p>
        </p:txBody>
      </p:sp>
      <p:sp>
        <p:nvSpPr>
          <p:cNvPr id="6" name="Círculo portada"/>
          <p:cNvSpPr/>
          <p:nvPr/>
        </p:nvSpPr>
        <p:spPr>
          <a:xfrm>
            <a:off x="7772400" y="1371600"/>
            <a:ext cx="3931920" cy="3931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7" name="Icono portada" descr="Mancuern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0" y="2423160"/>
            <a:ext cx="1828800" cy="1828800"/>
          </a:xfrm>
          <a:prstGeom prst="rect">
            <a:avLst/>
          </a:prstGeom>
        </p:spPr>
      </p:pic>
      <p:sp>
        <p:nvSpPr>
          <p:cNvPr id="8" name="Icono QR (fondo)"/>
          <p:cNvSpPr/>
          <p:nvPr/>
        </p:nvSpPr>
        <p:spPr>
          <a:xfrm>
            <a:off x="7315200" y="10972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o QR" descr="Icono Q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2088" y="1344168"/>
            <a:ext cx="420624" cy="420624"/>
          </a:xfrm>
          <a:prstGeom prst="rect">
            <a:avLst/>
          </a:prstGeom>
        </p:spPr>
      </p:pic>
      <p:sp>
        <p:nvSpPr>
          <p:cNvPr id="10" name="Icono dinero (fondo)"/>
          <p:cNvSpPr/>
          <p:nvPr/>
        </p:nvSpPr>
        <p:spPr>
          <a:xfrm>
            <a:off x="10972800" y="237744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cono dinero" descr="Icono diner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9688" y="2624328"/>
            <a:ext cx="420624" cy="420624"/>
          </a:xfrm>
          <a:prstGeom prst="rect">
            <a:avLst/>
          </a:prstGeom>
        </p:spPr>
      </p:pic>
      <p:sp>
        <p:nvSpPr>
          <p:cNvPr id="12" name="Icono WhatsApp (fondo)"/>
          <p:cNvSpPr/>
          <p:nvPr/>
        </p:nvSpPr>
        <p:spPr>
          <a:xfrm>
            <a:off x="9418320" y="5029200"/>
            <a:ext cx="914400" cy="9144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Icono WhatsApp" descr="Icono WhatsAp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5208" y="5276088"/>
            <a:ext cx="420624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INTRODUCCIÓN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SupraData: tu copiloto operativo</a:t>
            </a:r>
            <a:endParaRPr lang="en-US" sz="3600" dirty="0"/>
          </a:p>
        </p:txBody>
      </p:sp>
      <p:sp>
        <p:nvSpPr>
          <p:cNvPr id="5" name="Subtítulo"/>
          <p:cNvSpPr txBox="1"/>
          <p:nvPr/>
        </p:nvSpPr>
        <p:spPr>
          <a:xfrm>
            <a:off x="548640" y="14630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Adiós a las fórmulas rotas, los cobros sin registrar, los carnets prestados y las membresías vencidas sin detectar.</a:t>
            </a:r>
            <a:endParaRPr lang="en-US" sz="1600" dirty="0"/>
          </a:p>
        </p:txBody>
      </p:sp>
      <p:sp>
        <p:nvSpPr>
          <p:cNvPr id="6" name="Tarjeta Acceso blindado"/>
          <p:cNvSpPr/>
          <p:nvPr/>
        </p:nvSpPr>
        <p:spPr>
          <a:xfrm>
            <a:off x="548640" y="2514600"/>
            <a:ext cx="2560320" cy="35661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7" name="Icono Acceso blindado (fondo)"/>
          <p:cNvSpPr/>
          <p:nvPr/>
        </p:nvSpPr>
        <p:spPr>
          <a:xfrm>
            <a:off x="822960" y="2788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ono Acceso blindado" descr="Icono Acceso blind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2986430"/>
            <a:ext cx="336499" cy="336499"/>
          </a:xfrm>
          <a:prstGeom prst="rect">
            <a:avLst/>
          </a:prstGeom>
        </p:spPr>
      </p:pic>
      <p:sp>
        <p:nvSpPr>
          <p:cNvPr id="9" name="Título Acceso blindado"/>
          <p:cNvSpPr txBox="1"/>
          <p:nvPr/>
        </p:nvSpPr>
        <p:spPr>
          <a:xfrm>
            <a:off x="822960" y="37490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Acceso blindado</a:t>
            </a:r>
            <a:endParaRPr lang="en-US" sz="1900" dirty="0"/>
          </a:p>
        </p:txBody>
      </p:sp>
      <p:sp>
        <p:nvSpPr>
          <p:cNvPr id="10" name="Texto Acceso blindado"/>
          <p:cNvSpPr txBox="1"/>
          <p:nvPr/>
        </p:nvSpPr>
        <p:spPr>
          <a:xfrm>
            <a:off x="822960" y="448056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Validación en tiempo real por QR dinámico o cédula, con Anti-Passback de 120 minutos contra entradas duplicadas.</a:t>
            </a:r>
            <a:endParaRPr lang="en-US" sz="1400" dirty="0"/>
          </a:p>
        </p:txBody>
      </p:sp>
      <p:sp>
        <p:nvSpPr>
          <p:cNvPr id="11" name="Tarjeta Cero fugas de dinero"/>
          <p:cNvSpPr/>
          <p:nvPr/>
        </p:nvSpPr>
        <p:spPr>
          <a:xfrm>
            <a:off x="3392424" y="2514600"/>
            <a:ext cx="2560320" cy="35661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2" name="Icono Cero fugas de dinero (fondo)"/>
          <p:cNvSpPr/>
          <p:nvPr/>
        </p:nvSpPr>
        <p:spPr>
          <a:xfrm>
            <a:off x="3666744" y="278892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Icono Cero fugas de dinero" descr="Icono Cero fugas de diner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254" y="2986430"/>
            <a:ext cx="336499" cy="336499"/>
          </a:xfrm>
          <a:prstGeom prst="rect">
            <a:avLst/>
          </a:prstGeom>
        </p:spPr>
      </p:pic>
      <p:sp>
        <p:nvSpPr>
          <p:cNvPr id="14" name="Título Cero fugas de dinero"/>
          <p:cNvSpPr txBox="1"/>
          <p:nvPr/>
        </p:nvSpPr>
        <p:spPr>
          <a:xfrm>
            <a:off x="3666744" y="37490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Cero fugas de dinero</a:t>
            </a:r>
            <a:endParaRPr lang="en-US" sz="1900" dirty="0"/>
          </a:p>
        </p:txBody>
      </p:sp>
      <p:sp>
        <p:nvSpPr>
          <p:cNvPr id="15" name="Texto Cero fugas de dinero"/>
          <p:cNvSpPr txBox="1"/>
          <p:nvPr/>
        </p:nvSpPr>
        <p:spPr>
          <a:xfrm>
            <a:off x="3666744" y="448056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Turnos con arqueo ciego: el personal de mostrador no puede cuadrar cajas ficticias.</a:t>
            </a:r>
            <a:endParaRPr lang="en-US" sz="1400" dirty="0"/>
          </a:p>
        </p:txBody>
      </p:sp>
      <p:sp>
        <p:nvSpPr>
          <p:cNvPr id="16" name="Tarjeta Recuperación activa"/>
          <p:cNvSpPr/>
          <p:nvPr/>
        </p:nvSpPr>
        <p:spPr>
          <a:xfrm>
            <a:off x="6236208" y="2514600"/>
            <a:ext cx="2560320" cy="35661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7" name="Icono Recuperación activa (fondo)"/>
          <p:cNvSpPr/>
          <p:nvPr/>
        </p:nvSpPr>
        <p:spPr>
          <a:xfrm>
            <a:off x="6510528" y="278892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8" name="Icono Recuperación activa" descr="Icono Recuperación activ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038" y="2986430"/>
            <a:ext cx="336499" cy="336499"/>
          </a:xfrm>
          <a:prstGeom prst="rect">
            <a:avLst/>
          </a:prstGeom>
        </p:spPr>
      </p:pic>
      <p:sp>
        <p:nvSpPr>
          <p:cNvPr id="19" name="Título Recuperación activa"/>
          <p:cNvSpPr txBox="1"/>
          <p:nvPr/>
        </p:nvSpPr>
        <p:spPr>
          <a:xfrm>
            <a:off x="6510528" y="37490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Recuperación activa</a:t>
            </a:r>
            <a:endParaRPr lang="en-US" sz="1900" dirty="0"/>
          </a:p>
        </p:txBody>
      </p:sp>
      <p:sp>
        <p:nvSpPr>
          <p:cNvPr id="20" name="Texto Recuperación activa"/>
          <p:cNvSpPr txBox="1"/>
          <p:nvPr/>
        </p:nvSpPr>
        <p:spPr>
          <a:xfrm>
            <a:off x="6510528" y="448056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Detecta socios en riesgo de deserción y envía un recordatorio por WhatsApp con un solo clic.</a:t>
            </a:r>
            <a:endParaRPr lang="en-US" sz="1400" dirty="0"/>
          </a:p>
        </p:txBody>
      </p:sp>
      <p:sp>
        <p:nvSpPr>
          <p:cNvPr id="21" name="Tarjeta Carnet digital en la nube"/>
          <p:cNvSpPr/>
          <p:nvPr/>
        </p:nvSpPr>
        <p:spPr>
          <a:xfrm>
            <a:off x="9079992" y="2514600"/>
            <a:ext cx="2560320" cy="35661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22" name="Icono Carnet digital en la nube (fondo)"/>
          <p:cNvSpPr/>
          <p:nvPr/>
        </p:nvSpPr>
        <p:spPr>
          <a:xfrm>
            <a:off x="9354312" y="27889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3" name="Icono Carnet digital en la nube" descr="Icono Carnet digital en la nub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822" y="2986430"/>
            <a:ext cx="336499" cy="336499"/>
          </a:xfrm>
          <a:prstGeom prst="rect">
            <a:avLst/>
          </a:prstGeom>
        </p:spPr>
      </p:pic>
      <p:sp>
        <p:nvSpPr>
          <p:cNvPr id="24" name="Título Carnet digital en la nube"/>
          <p:cNvSpPr txBox="1"/>
          <p:nvPr/>
        </p:nvSpPr>
        <p:spPr>
          <a:xfrm>
            <a:off x="9354312" y="37490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Carnet digital en la nube</a:t>
            </a:r>
            <a:endParaRPr lang="en-US" sz="1900" dirty="0"/>
          </a:p>
        </p:txBody>
      </p:sp>
      <p:sp>
        <p:nvSpPr>
          <p:cNvPr id="25" name="Texto Carnet digital en la nube"/>
          <p:cNvSpPr txBox="1"/>
          <p:nvPr/>
        </p:nvSpPr>
        <p:spPr>
          <a:xfrm>
            <a:off x="9354312" y="448056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Sin descargar apps: el socio abre su pase digital desde el navegador de su celular.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INTRODUCCIÓN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Dos roles, dos niveles de acceso</a:t>
            </a:r>
            <a:endParaRPr lang="en-US" sz="3600" dirty="0"/>
          </a:p>
        </p:txBody>
      </p:sp>
      <p:sp>
        <p:nvSpPr>
          <p:cNvPr id="5" name="Tarjeta Propietario"/>
          <p:cNvSpPr/>
          <p:nvPr/>
        </p:nvSpPr>
        <p:spPr>
          <a:xfrm>
            <a:off x="548640" y="173736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tx2"/>
          </a:solidFill>
          <a:ln/>
        </p:spPr>
      </p:sp>
      <p:sp>
        <p:nvSpPr>
          <p:cNvPr id="6" name="Icono Propietario (fondo)"/>
          <p:cNvSpPr/>
          <p:nvPr/>
        </p:nvSpPr>
        <p:spPr>
          <a:xfrm>
            <a:off x="914400" y="205740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o Propietario" descr="Icono Propietar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599" y="2279599"/>
            <a:ext cx="378562" cy="37856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920240" y="2103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Propietario / Administrador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1920240" y="2560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Rol Owner · acceso ilimitado</a:t>
            </a:r>
            <a:endParaRPr lang="en-US" sz="1400" dirty="0"/>
          </a:p>
        </p:txBody>
      </p:sp>
      <p:sp>
        <p:nvSpPr>
          <p:cNvPr id="10" name="Lista Propietario"/>
          <p:cNvSpPr txBox="1"/>
          <p:nvPr/>
        </p:nvSpPr>
        <p:spPr>
          <a:xfrm>
            <a:off x="914400" y="3246120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Métricas de ingresos y balances mensuales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Configuración de planes y entrenadores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Gestión del equipo de trabajo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Auditoría de turnos y anulación de cobros</a:t>
            </a:r>
            <a:endParaRPr lang="en-US" sz="1600" dirty="0"/>
          </a:p>
        </p:txBody>
      </p:sp>
      <p:sp>
        <p:nvSpPr>
          <p:cNvPr id="11" name="Tarjeta Recepcionista"/>
          <p:cNvSpPr/>
          <p:nvPr/>
        </p:nvSpPr>
        <p:spPr>
          <a:xfrm>
            <a:off x="6245352" y="173736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12" name="Icono Recepcionista (fondo)"/>
          <p:cNvSpPr/>
          <p:nvPr/>
        </p:nvSpPr>
        <p:spPr>
          <a:xfrm>
            <a:off x="6611112" y="20574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o Recepcionista" descr="Icono Recepcionis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311" y="2279599"/>
            <a:ext cx="378562" cy="37856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616952" y="2103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Recepcionista</a:t>
            </a:r>
            <a:endParaRPr lang="en-US" sz="2200" dirty="0"/>
          </a:p>
        </p:txBody>
      </p:sp>
      <p:sp>
        <p:nvSpPr>
          <p:cNvPr id="15" name="Text 10"/>
          <p:cNvSpPr txBox="1"/>
          <p:nvPr/>
        </p:nvSpPr>
        <p:spPr>
          <a:xfrm>
            <a:off x="7616952" y="2560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Rol Receptionist · módulos operativos</a:t>
            </a:r>
            <a:endParaRPr lang="en-US" sz="1400" dirty="0"/>
          </a:p>
        </p:txBody>
      </p:sp>
      <p:sp>
        <p:nvSpPr>
          <p:cNvPr id="16" name="Lista Recepcionista"/>
          <p:cNvSpPr txBox="1"/>
          <p:nvPr/>
        </p:nvSpPr>
        <p:spPr>
          <a:xfrm>
            <a:off x="6611112" y="3246120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Recepción y control de asistencias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Registro de nuevos socios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Tienda de mostrador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Apertura y cierre de su propio turno de caja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INTRODUCCIÓN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Inicia sesión en 3 pasos</a:t>
            </a:r>
            <a:endParaRPr lang="en-US" sz="3600" dirty="0"/>
          </a:p>
        </p:txBody>
      </p:sp>
      <p:sp>
        <p:nvSpPr>
          <p:cNvPr id="5" name="Tarjeta paso 1"/>
          <p:cNvSpPr/>
          <p:nvPr/>
        </p:nvSpPr>
        <p:spPr>
          <a:xfrm>
            <a:off x="548640" y="1737360"/>
            <a:ext cx="347472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6" name="Número paso 1"/>
          <p:cNvSpPr txBox="1"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1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834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Abre el enlace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918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Entra desde Chrome, Edge o Safari al enlace de tu plataforma: tudominio.com/login.</a:t>
            </a:r>
            <a:endParaRPr lang="en-US" sz="1500" dirty="0"/>
          </a:p>
        </p:txBody>
      </p:sp>
      <p:sp>
        <p:nvSpPr>
          <p:cNvPr id="9" name="Tarjeta paso 2"/>
          <p:cNvSpPr/>
          <p:nvPr/>
        </p:nvSpPr>
        <p:spPr>
          <a:xfrm>
            <a:off x="4357116" y="1737360"/>
            <a:ext cx="347472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10" name="Número paso 2"/>
          <p:cNvSpPr txBox="1"/>
          <p:nvPr/>
        </p:nvSpPr>
        <p:spPr>
          <a:xfrm>
            <a:off x="4631436" y="20116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2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4631436" y="2834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Ingresa tus credenciales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631436" y="32918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Escribe el correo corporativo asignado a tu usuario y tu clave personal.</a:t>
            </a:r>
            <a:endParaRPr lang="en-US" sz="1500" dirty="0"/>
          </a:p>
        </p:txBody>
      </p:sp>
      <p:sp>
        <p:nvSpPr>
          <p:cNvPr id="13" name="Tarjeta paso 3"/>
          <p:cNvSpPr/>
          <p:nvPr/>
        </p:nvSpPr>
        <p:spPr>
          <a:xfrm>
            <a:off x="8165592" y="1737360"/>
            <a:ext cx="347472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14" name="Número paso 3"/>
          <p:cNvSpPr txBox="1"/>
          <p:nvPr/>
        </p:nvSpPr>
        <p:spPr>
          <a:xfrm>
            <a:off x="8439912" y="20116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3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8439912" y="2834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Inicia sesión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8439912" y="32918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Haz clic en el botón Iniciar Sesión y empieza a operar.</a:t>
            </a:r>
            <a:endParaRPr lang="en-US" sz="1500" dirty="0"/>
          </a:p>
        </p:txBody>
      </p:sp>
      <p:sp>
        <p:nvSpPr>
          <p:cNvPr id="17" name="Nota de roles"/>
          <p:cNvSpPr/>
          <p:nvPr/>
        </p:nvSpPr>
        <p:spPr>
          <a:xfrm>
            <a:off x="548640" y="4709160"/>
            <a:ext cx="11091672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</p:spPr>
      </p:sp>
      <p:sp>
        <p:nvSpPr>
          <p:cNvPr id="18" name="Icono roles (fondo)"/>
          <p:cNvSpPr/>
          <p:nvPr/>
        </p:nvSpPr>
        <p:spPr>
          <a:xfrm>
            <a:off x="914400" y="498348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Icono roles" descr="Icono ro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255" y="5193335"/>
            <a:ext cx="357530" cy="35753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2011680" y="4846320"/>
            <a:ext cx="9326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Tu rol define lo que ves: el Propietario accede a todas las métricas y configuraciones; el Recepcionista, solo a los módulos operativos del día.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PANEL GERENCIAL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Cinco indicadores clave</a:t>
            </a:r>
            <a:endParaRPr lang="en-US" sz="3600" dirty="0"/>
          </a:p>
        </p:txBody>
      </p:sp>
      <p:sp>
        <p:nvSpPr>
          <p:cNvPr id="5" name="Subtítulo"/>
          <p:cNvSpPr txBox="1"/>
          <p:nvPr/>
        </p:nvSpPr>
        <p:spPr>
          <a:xfrm>
            <a:off x="548640" y="14630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Vista panorámica de las finanzas y la afluencia del gimnasio, hoy y en el mes corriente.</a:t>
            </a:r>
            <a:endParaRPr lang="en-US" sz="1600" dirty="0"/>
          </a:p>
        </p:txBody>
      </p:sp>
      <p:sp>
        <p:nvSpPr>
          <p:cNvPr id="6" name="Tarjeta Recaudo de Hoy"/>
          <p:cNvSpPr/>
          <p:nvPr/>
        </p:nvSpPr>
        <p:spPr>
          <a:xfrm>
            <a:off x="548640" y="2286000"/>
            <a:ext cx="2057400" cy="37490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7" name="Icono Recaudo de Hoy (fondo)"/>
          <p:cNvSpPr/>
          <p:nvPr/>
        </p:nvSpPr>
        <p:spPr>
          <a:xfrm>
            <a:off x="777240" y="25603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ono Recaudo de Hoy" descr="Icono Recaudo de Ho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406" y="2745486"/>
            <a:ext cx="315468" cy="3154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77240" y="3474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Recaudo de Hoy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977640"/>
            <a:ext cx="1600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Total neto del día: suscripciones, pases exprés y ventas, en efectivo o transferencia.</a:t>
            </a:r>
            <a:endParaRPr lang="en-US" sz="1400" dirty="0"/>
          </a:p>
        </p:txBody>
      </p:sp>
      <p:sp>
        <p:nvSpPr>
          <p:cNvPr id="11" name="Tarjeta Balance del Mes"/>
          <p:cNvSpPr/>
          <p:nvPr/>
        </p:nvSpPr>
        <p:spPr>
          <a:xfrm>
            <a:off x="2807208" y="2286000"/>
            <a:ext cx="2057400" cy="37490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2" name="Icono Balance del Mes (fondo)"/>
          <p:cNvSpPr/>
          <p:nvPr/>
        </p:nvSpPr>
        <p:spPr>
          <a:xfrm>
            <a:off x="3035808" y="256032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Icono Balance del Mes" descr="Icono Balance del M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974" y="2745486"/>
            <a:ext cx="315468" cy="31546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035808" y="3474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Balance del Mes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3035808" y="3977640"/>
            <a:ext cx="1600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Ingresos del mes menos gastos operativos menores. Rentabilidad real sin esperar el cierre.</a:t>
            </a:r>
            <a:endParaRPr lang="en-US" sz="1400" dirty="0"/>
          </a:p>
        </p:txBody>
      </p:sp>
      <p:sp>
        <p:nvSpPr>
          <p:cNvPr id="16" name="Tarjeta Asistencias Hoy"/>
          <p:cNvSpPr/>
          <p:nvPr/>
        </p:nvSpPr>
        <p:spPr>
          <a:xfrm>
            <a:off x="5065776" y="2286000"/>
            <a:ext cx="2057400" cy="37490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7" name="Icono Asistencias Hoy (fondo)"/>
          <p:cNvSpPr/>
          <p:nvPr/>
        </p:nvSpPr>
        <p:spPr>
          <a:xfrm>
            <a:off x="5294376" y="256032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cono Asistencias Hoy" descr="Icono Asistencias Ho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542" y="2745486"/>
            <a:ext cx="315468" cy="31546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294376" y="3474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Asistencias Hoy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5294376" y="3977640"/>
            <a:ext cx="1600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Validaciones de acceso registradas por recepción durante el día.</a:t>
            </a:r>
            <a:endParaRPr lang="en-US" sz="1400" dirty="0"/>
          </a:p>
        </p:txBody>
      </p:sp>
      <p:sp>
        <p:nvSpPr>
          <p:cNvPr id="21" name="Tarjeta Aforo Actual"/>
          <p:cNvSpPr/>
          <p:nvPr/>
        </p:nvSpPr>
        <p:spPr>
          <a:xfrm>
            <a:off x="7324344" y="2286000"/>
            <a:ext cx="2057400" cy="37490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2" name="Icono Aforo Actual (fondo)"/>
          <p:cNvSpPr/>
          <p:nvPr/>
        </p:nvSpPr>
        <p:spPr>
          <a:xfrm>
            <a:off x="7552944" y="256032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3" name="Icono Aforo Actual" descr="Icono Aforo Actu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8110" y="2745486"/>
            <a:ext cx="315468" cy="31546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552944" y="3474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Aforo Actual</a:t>
            </a:r>
            <a:endParaRPr lang="en-US" sz="1700" dirty="0"/>
          </a:p>
        </p:txBody>
      </p:sp>
      <p:sp>
        <p:nvSpPr>
          <p:cNvPr id="25" name="Text 18"/>
          <p:cNvSpPr txBox="1"/>
          <p:nvPr/>
        </p:nvSpPr>
        <p:spPr>
          <a:xfrm>
            <a:off x="7552944" y="3977640"/>
            <a:ext cx="1600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Socios entrenando ahora: ingresos de las últimas 2 horas sin salida marcada.</a:t>
            </a:r>
            <a:endParaRPr lang="en-US" sz="1400" dirty="0"/>
          </a:p>
        </p:txBody>
      </p:sp>
      <p:sp>
        <p:nvSpPr>
          <p:cNvPr id="26" name="Tarjeta Socios Activos"/>
          <p:cNvSpPr/>
          <p:nvPr/>
        </p:nvSpPr>
        <p:spPr>
          <a:xfrm>
            <a:off x="9582912" y="2286000"/>
            <a:ext cx="2057400" cy="37490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7" name="Icono Socios Activos (fondo)"/>
          <p:cNvSpPr/>
          <p:nvPr/>
        </p:nvSpPr>
        <p:spPr>
          <a:xfrm>
            <a:off x="9811512" y="25603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Icono Socios Activos" descr="Icono Socios Activo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6678" y="2745486"/>
            <a:ext cx="315468" cy="31546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9811512" y="3474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Socios Activos</a:t>
            </a:r>
            <a:endParaRPr lang="en-US" sz="1700" dirty="0"/>
          </a:p>
        </p:txBody>
      </p:sp>
      <p:sp>
        <p:nvSpPr>
          <p:cNvPr id="30" name="Text 22"/>
          <p:cNvSpPr txBox="1"/>
          <p:nvPr/>
        </p:nvSpPr>
        <p:spPr>
          <a:xfrm>
            <a:off x="9811512" y="3977640"/>
            <a:ext cx="1600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Socios cuyo plan vence hoy o en fechas futuras.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PANEL GERENCIAL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Alerta: socios próximos a vencer</a:t>
            </a:r>
            <a:endParaRPr lang="en-US" sz="3600" dirty="0"/>
          </a:p>
        </p:txBody>
      </p:sp>
      <p:sp>
        <p:nvSpPr>
          <p:cNvPr id="5" name="Tarjeta indicador"/>
          <p:cNvSpPr/>
          <p:nvPr/>
        </p:nvSpPr>
        <p:spPr>
          <a:xfrm>
            <a:off x="548640" y="1737360"/>
            <a:ext cx="4206240" cy="4297680"/>
          </a:xfrm>
          <a:prstGeom prst="roundRect">
            <a:avLst>
              <a:gd name="adj" fmla="val 2609"/>
            </a:avLst>
          </a:prstGeom>
          <a:solidFill>
            <a:schemeClr val="tx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201168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chemeClr val="accent2"/>
                </a:solidFill>
              </a:rPr>
              <a:t>≤ 5</a:t>
            </a:r>
            <a:endParaRPr lang="en-US" sz="10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5204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días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48056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Bloque «Próximos a Vencer»: socios cuyo plan caduca en los próximos 5 días calendario.</a:t>
            </a:r>
            <a:endParaRPr lang="en-US" sz="1600" dirty="0"/>
          </a:p>
        </p:txBody>
      </p:sp>
      <p:sp>
        <p:nvSpPr>
          <p:cNvPr id="9" name="Tarjeta Por qué importa"/>
          <p:cNvSpPr/>
          <p:nvPr/>
        </p:nvSpPr>
        <p:spPr>
          <a:xfrm>
            <a:off x="5029200" y="1737360"/>
            <a:ext cx="6611112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0" name="Icono Por qué importa (fondo)"/>
          <p:cNvSpPr/>
          <p:nvPr/>
        </p:nvSpPr>
        <p:spPr>
          <a:xfrm>
            <a:off x="5394960" y="210312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cono Por qué importa" descr="Icono Por qué impor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7159" y="2325319"/>
            <a:ext cx="378562" cy="37856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92240" y="2057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Por qué importa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26060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 mejor momento para retener a un cliente es antes de que su plan venza, no semanas después, cuando ya perdió el hábito de asistir.</a:t>
            </a:r>
            <a:endParaRPr lang="en-US" sz="1600" dirty="0"/>
          </a:p>
        </p:txBody>
      </p:sp>
      <p:sp>
        <p:nvSpPr>
          <p:cNvPr id="14" name="Tarjeta Qué hacer"/>
          <p:cNvSpPr/>
          <p:nvPr/>
        </p:nvSpPr>
        <p:spPr>
          <a:xfrm>
            <a:off x="5029200" y="4023360"/>
            <a:ext cx="6611112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5" name="Icono Qué hacer (fondo)"/>
          <p:cNvSpPr/>
          <p:nvPr/>
        </p:nvSpPr>
        <p:spPr>
          <a:xfrm>
            <a:off x="5394960" y="43891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o Qué hacer" descr="Icono Qué hac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159" y="4611319"/>
            <a:ext cx="378562" cy="37856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92240" y="4343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Qué hacer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6492240" y="48920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Entra a Miembros, revisa la lista priorizada y envía el mensaje de renovación de cortesía antes de que termine su período activo.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RECEPCIÓN Y CAJA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Abre tu turno de caja</a:t>
            </a:r>
            <a:endParaRPr lang="en-US" sz="3600" dirty="0"/>
          </a:p>
        </p:txBody>
      </p:sp>
      <p:sp>
        <p:nvSpPr>
          <p:cNvPr id="5" name="Tarjeta paso 1"/>
          <p:cNvSpPr/>
          <p:nvPr/>
        </p:nvSpPr>
        <p:spPr>
          <a:xfrm>
            <a:off x="548640" y="1737360"/>
            <a:ext cx="640080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6" name="Número paso 1"/>
          <p:cNvSpPr txBox="1"/>
          <p:nvPr/>
        </p:nvSpPr>
        <p:spPr>
          <a:xfrm>
            <a:off x="914400" y="21945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chemeClr val="bg1"/>
                </a:solidFill>
              </a:rPr>
              <a:t>1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2057400" y="2148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Ingresa el monto inicial en efectivo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2057400" y="26974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 la base en billetes y monedas que hay físicamente en el cajón.</a:t>
            </a:r>
            <a:endParaRPr lang="en-US" sz="1600" dirty="0"/>
          </a:p>
        </p:txBody>
      </p:sp>
      <p:sp>
        <p:nvSpPr>
          <p:cNvPr id="9" name="Tarjeta paso 2"/>
          <p:cNvSpPr/>
          <p:nvPr/>
        </p:nvSpPr>
        <p:spPr>
          <a:xfrm>
            <a:off x="548640" y="4023360"/>
            <a:ext cx="640080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0" name="Número paso 2"/>
          <p:cNvSpPr txBox="1"/>
          <p:nvPr/>
        </p:nvSpPr>
        <p:spPr>
          <a:xfrm>
            <a:off x="914400" y="44805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chemeClr val="bg1"/>
                </a:solidFill>
              </a:rPr>
              <a:t>2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2057400" y="4434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Haz clic en Abrir Turno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2057400" y="49834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Desde ese momento, cada movimiento en efectivo queda asociado a tu usuario.</a:t>
            </a:r>
            <a:endParaRPr lang="en-US" sz="1600" dirty="0"/>
          </a:p>
        </p:txBody>
      </p:sp>
      <p:sp>
        <p:nvSpPr>
          <p:cNvPr id="13" name="Tarjeta turno obligatorio"/>
          <p:cNvSpPr/>
          <p:nvPr/>
        </p:nvSpPr>
        <p:spPr>
          <a:xfrm>
            <a:off x="7269480" y="1737360"/>
            <a:ext cx="4370832" cy="4297680"/>
          </a:xfrm>
          <a:prstGeom prst="roundRect">
            <a:avLst>
              <a:gd name="adj" fmla="val 2553"/>
            </a:avLst>
          </a:prstGeom>
          <a:solidFill>
            <a:schemeClr val="tx2"/>
          </a:solidFill>
          <a:ln/>
        </p:spPr>
      </p:sp>
      <p:sp>
        <p:nvSpPr>
          <p:cNvPr id="14" name="Icono caja (fondo)"/>
          <p:cNvSpPr/>
          <p:nvPr/>
        </p:nvSpPr>
        <p:spPr>
          <a:xfrm>
            <a:off x="7680960" y="210312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cono caja" descr="Icono caj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2537" y="2374697"/>
            <a:ext cx="462686" cy="46268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680960" y="33832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Sin caja activa, el sistema exige abrir turno antes de operar.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7680960" y="5120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Módulo Recepción · /dashboard/reception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RECEPCIÓN Y CAJA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Registrar el acceso de un socio</a:t>
            </a:r>
            <a:endParaRPr lang="en-US" sz="3600" dirty="0"/>
          </a:p>
        </p:txBody>
      </p:sp>
      <p:sp>
        <p:nvSpPr>
          <p:cNvPr id="5" name="Tarjeta método 1"/>
          <p:cNvSpPr/>
          <p:nvPr/>
        </p:nvSpPr>
        <p:spPr>
          <a:xfrm>
            <a:off x="548640" y="173736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6" name="Icono método 1 (fondo)"/>
          <p:cNvSpPr/>
          <p:nvPr/>
        </p:nvSpPr>
        <p:spPr>
          <a:xfrm>
            <a:off x="914400" y="20574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o método 1" descr="Icono método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599" y="2279599"/>
            <a:ext cx="378562" cy="37856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92024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MÉTODO 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1920240" y="2331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Lector de código QR</a:t>
            </a:r>
            <a:endParaRPr lang="en-US" sz="2200" dirty="0"/>
          </a:p>
        </p:txBody>
      </p:sp>
      <p:sp>
        <p:nvSpPr>
          <p:cNvPr id="10" name="Lista método 1"/>
          <p:cNvSpPr txBox="1"/>
          <p:nvPr/>
        </p:nvSpPr>
        <p:spPr>
          <a:xfrm>
            <a:off x="914400" y="3246120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Con pistola lectora USB, el código escaneado se procesa automáticamente.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Sin lector físico, pulsa Escanear con Cámara para leer el QR del carnet digital con la cámara web.</a:t>
            </a:r>
            <a:endParaRPr lang="en-US" sz="1600" dirty="0"/>
          </a:p>
        </p:txBody>
      </p:sp>
      <p:sp>
        <p:nvSpPr>
          <p:cNvPr id="11" name="Tarjeta método 2"/>
          <p:cNvSpPr/>
          <p:nvPr/>
        </p:nvSpPr>
        <p:spPr>
          <a:xfrm>
            <a:off x="6245352" y="173736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12" name="Icono método 2 (fondo)"/>
          <p:cNvSpPr/>
          <p:nvPr/>
        </p:nvSpPr>
        <p:spPr>
          <a:xfrm>
            <a:off x="6611112" y="205740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Icono método 2" descr="Icono método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311" y="2279599"/>
            <a:ext cx="378562" cy="37856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616952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MÉTODO 2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7616952" y="2331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Búsqueda por documento</a:t>
            </a:r>
            <a:endParaRPr lang="en-US" sz="2200" dirty="0"/>
          </a:p>
        </p:txBody>
      </p:sp>
      <p:sp>
        <p:nvSpPr>
          <p:cNvPr id="16" name="Lista método 2"/>
          <p:cNvSpPr txBox="1"/>
          <p:nvPr/>
        </p:nvSpPr>
        <p:spPr>
          <a:xfrm>
            <a:off x="6611112" y="3246120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Escribe la cédula en el campo de texto central.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Presiona Enter o haz clic en Validar Acceso.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Ideal cuando el socio llega sin su teléfono.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RECEPCIÓN Y CAJA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El semáforo de acceso</a:t>
            </a:r>
            <a:endParaRPr lang="en-US" sz="3600" dirty="0"/>
          </a:p>
        </p:txBody>
      </p:sp>
      <p:sp>
        <p:nvSpPr>
          <p:cNvPr id="5" name="Tarjeta Verde"/>
          <p:cNvSpPr/>
          <p:nvPr/>
        </p:nvSpPr>
        <p:spPr>
          <a:xfrm>
            <a:off x="548640" y="1737360"/>
            <a:ext cx="3474720" cy="42976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6" name="Icono Verde (fondo)"/>
          <p:cNvSpPr/>
          <p:nvPr/>
        </p:nvSpPr>
        <p:spPr>
          <a:xfrm>
            <a:off x="868680" y="205740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o Verde" descr="Icono Ver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7" y="2328977"/>
            <a:ext cx="462686" cy="46268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68680" y="3337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Verde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3840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Acceso autorizado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43891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Membresía activa. Muestra nombre completo, foto facial, plan actual y días restantes.</a:t>
            </a:r>
            <a:endParaRPr lang="en-US" sz="1500" dirty="0"/>
          </a:p>
        </p:txBody>
      </p:sp>
      <p:sp>
        <p:nvSpPr>
          <p:cNvPr id="11" name="Tarjeta Rojo"/>
          <p:cNvSpPr/>
          <p:nvPr/>
        </p:nvSpPr>
        <p:spPr>
          <a:xfrm>
            <a:off x="4357116" y="1737360"/>
            <a:ext cx="3474720" cy="42976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2" name="Icono Rojo (fondo)"/>
          <p:cNvSpPr/>
          <p:nvPr/>
        </p:nvSpPr>
        <p:spPr>
          <a:xfrm>
            <a:off x="4677156" y="2057400"/>
            <a:ext cx="1005840" cy="10058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Icono Rojo" descr="Icono Roj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8733" y="2328977"/>
            <a:ext cx="462686" cy="46268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677156" y="3337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Rojo</a:t>
            </a:r>
            <a:endParaRPr lang="en-US" sz="2600" dirty="0"/>
          </a:p>
        </p:txBody>
      </p:sp>
      <p:sp>
        <p:nvSpPr>
          <p:cNvPr id="15" name="Text 10"/>
          <p:cNvSpPr txBox="1"/>
          <p:nvPr/>
        </p:nvSpPr>
        <p:spPr>
          <a:xfrm>
            <a:off x="4677156" y="3840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Membresía vencida o inactiva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4677156" y="43891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 sistema alerta que el plan caducó y ofrece de inmediato la opción Cobrar Renovación.</a:t>
            </a:r>
            <a:endParaRPr lang="en-US" sz="1500" dirty="0"/>
          </a:p>
        </p:txBody>
      </p:sp>
      <p:sp>
        <p:nvSpPr>
          <p:cNvPr id="17" name="Tarjeta Amarillo"/>
          <p:cNvSpPr/>
          <p:nvPr/>
        </p:nvSpPr>
        <p:spPr>
          <a:xfrm>
            <a:off x="8165592" y="1737360"/>
            <a:ext cx="3474720" cy="42976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8" name="Icono Amarillo (fondo)"/>
          <p:cNvSpPr/>
          <p:nvPr/>
        </p:nvSpPr>
        <p:spPr>
          <a:xfrm>
            <a:off x="8485632" y="205740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Icono Amarillo" descr="Icono Amarill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7209" y="2328977"/>
            <a:ext cx="462686" cy="46268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485632" y="3337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Amarillo</a:t>
            </a:r>
            <a:endParaRPr lang="en-US" sz="2600" dirty="0"/>
          </a:p>
        </p:txBody>
      </p:sp>
      <p:sp>
        <p:nvSpPr>
          <p:cNvPr id="21" name="Text 15"/>
          <p:cNvSpPr txBox="1"/>
          <p:nvPr/>
        </p:nvSpPr>
        <p:spPr>
          <a:xfrm>
            <a:off x="8485632" y="3840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Control Anti-Passback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8485632" y="43891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 carnet usado dos veces dentro de 120 minutos queda bloqueado para evitar préstamos entre usuarios.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RECEPCIÓN Y CAJA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Captura de fotografía</a:t>
            </a:r>
            <a:endParaRPr lang="en-US" sz="3600" dirty="0"/>
          </a:p>
        </p:txBody>
      </p:sp>
      <p:sp>
        <p:nvSpPr>
          <p:cNvPr id="5" name="Subtítulo"/>
          <p:cNvSpPr txBox="1"/>
          <p:nvPr/>
        </p:nvSpPr>
        <p:spPr>
          <a:xfrm>
            <a:off x="548640" y="14630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Garantiza la identidad del socio y evita suplantaciones, al dar de alta o actualizar su carnet.</a:t>
            </a:r>
            <a:endParaRPr lang="en-US" sz="1600" dirty="0"/>
          </a:p>
        </p:txBody>
      </p:sp>
      <p:sp>
        <p:nvSpPr>
          <p:cNvPr id="6" name="Tarjeta paso 1"/>
          <p:cNvSpPr/>
          <p:nvPr/>
        </p:nvSpPr>
        <p:spPr>
          <a:xfrm>
            <a:off x="548640" y="2286000"/>
            <a:ext cx="2560320" cy="37490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7" name="Número paso 1"/>
          <p:cNvSpPr txBox="1"/>
          <p:nvPr/>
        </p:nvSpPr>
        <p:spPr>
          <a:xfrm>
            <a:off x="822960" y="25603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1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474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Abre la cámara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02336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Haz clic en Tomar Fotografía con Cámara para abrir la ventana de captura.</a:t>
            </a:r>
            <a:endParaRPr lang="en-US" sz="1400" dirty="0"/>
          </a:p>
        </p:txBody>
      </p:sp>
      <p:sp>
        <p:nvSpPr>
          <p:cNvPr id="10" name="Tarjeta paso 2"/>
          <p:cNvSpPr/>
          <p:nvPr/>
        </p:nvSpPr>
        <p:spPr>
          <a:xfrm>
            <a:off x="3392424" y="2286000"/>
            <a:ext cx="2560320" cy="37490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1" name="Número paso 2"/>
          <p:cNvSpPr txBox="1"/>
          <p:nvPr/>
        </p:nvSpPr>
        <p:spPr>
          <a:xfrm>
            <a:off x="3666744" y="25603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2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3666744" y="3474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Encuadra el rostro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3666744" y="402336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Ubica el rostro en la guía circular «Rostro aquí». En tablet o smartphone, alterna entre cámara Frontal y Trasera.</a:t>
            </a:r>
            <a:endParaRPr lang="en-US" sz="1400" dirty="0"/>
          </a:p>
        </p:txBody>
      </p:sp>
      <p:sp>
        <p:nvSpPr>
          <p:cNvPr id="14" name="Tarjeta paso 3"/>
          <p:cNvSpPr/>
          <p:nvPr/>
        </p:nvSpPr>
        <p:spPr>
          <a:xfrm>
            <a:off x="6236208" y="2286000"/>
            <a:ext cx="2560320" cy="37490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5" name="Número paso 3"/>
          <p:cNvSpPr txBox="1"/>
          <p:nvPr/>
        </p:nvSpPr>
        <p:spPr>
          <a:xfrm>
            <a:off x="6510528" y="25603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3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6510528" y="3474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Captura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6510528" y="402336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Pulsa el botón verde Capturar Foto.</a:t>
            </a:r>
            <a:endParaRPr lang="en-US" sz="1400" dirty="0"/>
          </a:p>
        </p:txBody>
      </p:sp>
      <p:sp>
        <p:nvSpPr>
          <p:cNvPr id="18" name="Tarjeta paso 4"/>
          <p:cNvSpPr/>
          <p:nvPr/>
        </p:nvSpPr>
        <p:spPr>
          <a:xfrm>
            <a:off x="9079992" y="2286000"/>
            <a:ext cx="2560320" cy="37490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9" name="Número paso 4"/>
          <p:cNvSpPr txBox="1"/>
          <p:nvPr/>
        </p:nvSpPr>
        <p:spPr>
          <a:xfrm>
            <a:off x="9354312" y="25603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4</a:t>
            </a:r>
            <a:endParaRPr lang="en-US" sz="2100" dirty="0"/>
          </a:p>
        </p:txBody>
      </p:sp>
      <p:sp>
        <p:nvSpPr>
          <p:cNvPr id="20" name="Text 17"/>
          <p:cNvSpPr txBox="1"/>
          <p:nvPr/>
        </p:nvSpPr>
        <p:spPr>
          <a:xfrm>
            <a:off x="9354312" y="3474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Revisa y guarda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9354312" y="402336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 salió borrosa, pulsa Repetir / Reintentar. Si es nítida, Guardar y Usar Foto.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RECEPCIÓN Y CAJA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Cobros y gastos en mostrador</a:t>
            </a:r>
            <a:endParaRPr lang="en-US" sz="3600" dirty="0"/>
          </a:p>
        </p:txBody>
      </p:sp>
      <p:sp>
        <p:nvSpPr>
          <p:cNvPr id="5" name="Tarjeta Pase Exprés"/>
          <p:cNvSpPr/>
          <p:nvPr/>
        </p:nvSpPr>
        <p:spPr>
          <a:xfrm>
            <a:off x="548640" y="1737360"/>
            <a:ext cx="3474720" cy="42976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6" name="Icono Pase Exprés (fondo)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o Pase Exprés" descr="Icono Pase Expré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2209190"/>
            <a:ext cx="336499" cy="336499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2148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Pase Exprés</a:t>
            </a:r>
            <a:endParaRPr lang="en-US" sz="2000" dirty="0"/>
          </a:p>
        </p:txBody>
      </p:sp>
      <p:sp>
        <p:nvSpPr>
          <p:cNvPr id="9" name="Pasos Pase Exprés"/>
          <p:cNvSpPr txBox="1"/>
          <p:nvPr/>
        </p:nvSpPr>
        <p:spPr>
          <a:xfrm>
            <a:off x="822960" y="3063240"/>
            <a:ext cx="2926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Selecciona la pestaña Pase Exprés.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Ingresa nombre o documento de la visita.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Elige efectivo o transferencia (anota la referencia).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Pulsa Registrar Cobro e Ingreso.</a:t>
            </a:r>
            <a:endParaRPr lang="en-US" sz="1500" dirty="0"/>
          </a:p>
        </p:txBody>
      </p:sp>
      <p:sp>
        <p:nvSpPr>
          <p:cNvPr id="10" name="Tarjeta Tienda de Mostrador"/>
          <p:cNvSpPr/>
          <p:nvPr/>
        </p:nvSpPr>
        <p:spPr>
          <a:xfrm>
            <a:off x="4357116" y="1737360"/>
            <a:ext cx="3474720" cy="42976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1" name="Icono Tienda de Mostrador (fondo)"/>
          <p:cNvSpPr/>
          <p:nvPr/>
        </p:nvSpPr>
        <p:spPr>
          <a:xfrm>
            <a:off x="4631436" y="201168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2" name="Icono Tienda de Mostrador" descr="Icono Tienda de Mostrad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946" y="2209190"/>
            <a:ext cx="336499" cy="33649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545836" y="2148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Tienda de Mostrador</a:t>
            </a:r>
            <a:endParaRPr lang="en-US" sz="2000" dirty="0"/>
          </a:p>
        </p:txBody>
      </p:sp>
      <p:sp>
        <p:nvSpPr>
          <p:cNvPr id="14" name="Pasos Tienda de Mostrador"/>
          <p:cNvSpPr txBox="1"/>
          <p:nvPr/>
        </p:nvSpPr>
        <p:spPr>
          <a:xfrm>
            <a:off x="4631436" y="3063240"/>
            <a:ext cx="2926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Selecciona la pestaña Tienda de Mostrador.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Haz clic en los productos: agua, isotónica, proteína.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Elige efectivo o transferencia.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Confirma con Finalizar Venta.</a:t>
            </a:r>
            <a:endParaRPr lang="en-US" sz="1500" dirty="0"/>
          </a:p>
        </p:txBody>
      </p:sp>
      <p:sp>
        <p:nvSpPr>
          <p:cNvPr id="15" name="Tarjeta Gastos menores"/>
          <p:cNvSpPr/>
          <p:nvPr/>
        </p:nvSpPr>
        <p:spPr>
          <a:xfrm>
            <a:off x="8165592" y="1737360"/>
            <a:ext cx="3474720" cy="42976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6" name="Icono Gastos menores (fondo)"/>
          <p:cNvSpPr/>
          <p:nvPr/>
        </p:nvSpPr>
        <p:spPr>
          <a:xfrm>
            <a:off x="8439912" y="20116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cono Gastos menores" descr="Icono Gastos menor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422" y="2209190"/>
            <a:ext cx="336499" cy="336499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354312" y="2148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Gastos menores</a:t>
            </a:r>
            <a:endParaRPr lang="en-US" sz="2000" dirty="0"/>
          </a:p>
        </p:txBody>
      </p:sp>
      <p:sp>
        <p:nvSpPr>
          <p:cNvPr id="19" name="Pasos Gastos menores"/>
          <p:cNvSpPr txBox="1"/>
          <p:nvPr/>
        </p:nvSpPr>
        <p:spPr>
          <a:xfrm>
            <a:off x="8439912" y="3063240"/>
            <a:ext cx="2926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Haz clic en Registrar Gasto de Caja.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Escribe el monto exacto y el motivo detallado.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Pulsa Guardar Gasto.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Se descuenta del efectivo esperado en el arqueo.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AUDITORÍA Y ARQUEO CIEGO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Arqueo ciego: protege tu dinero</a:t>
            </a:r>
            <a:endParaRPr lang="en-US" sz="3600" dirty="0"/>
          </a:p>
        </p:txBody>
      </p:sp>
      <p:sp>
        <p:nvSpPr>
          <p:cNvPr id="5" name="Tarjeta sistema tradicional"/>
          <p:cNvSpPr/>
          <p:nvPr/>
        </p:nvSpPr>
        <p:spPr>
          <a:xfrm>
            <a:off x="548640" y="173736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6" name="Icono tradicional (fondo)"/>
          <p:cNvSpPr/>
          <p:nvPr/>
        </p:nvSpPr>
        <p:spPr>
          <a:xfrm>
            <a:off x="914400" y="205740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Icono tradicional" descr="Icono tradicion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599" y="2279599"/>
            <a:ext cx="378562" cy="37856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920240" y="21945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Sistema tradicional</a:t>
            </a:r>
            <a:endParaRPr lang="en-US" sz="2200" dirty="0"/>
          </a:p>
        </p:txBody>
      </p:sp>
      <p:sp>
        <p:nvSpPr>
          <p:cNvPr id="9" name="Lista tradicional"/>
          <p:cNvSpPr txBox="1"/>
          <p:nvPr/>
        </p:nvSpPr>
        <p:spPr>
          <a:xfrm>
            <a:off x="914400" y="3246120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 pantalla muestra cuánto dinero «debería haber» antes de cerrar.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 sobra dinero, es fácil no reportarlo.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 falta, se intentan ocultar movimientos.</a:t>
            </a:r>
            <a:endParaRPr lang="en-US" sz="1600" dirty="0"/>
          </a:p>
        </p:txBody>
      </p:sp>
      <p:sp>
        <p:nvSpPr>
          <p:cNvPr id="10" name="Tarjeta arqueo ciego"/>
          <p:cNvSpPr/>
          <p:nvPr/>
        </p:nvSpPr>
        <p:spPr>
          <a:xfrm>
            <a:off x="6245352" y="173736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tx2"/>
          </a:solidFill>
          <a:ln/>
        </p:spPr>
      </p:sp>
      <p:sp>
        <p:nvSpPr>
          <p:cNvPr id="11" name="Icono arqueo ciego (fondo)"/>
          <p:cNvSpPr/>
          <p:nvPr/>
        </p:nvSpPr>
        <p:spPr>
          <a:xfrm>
            <a:off x="6611112" y="205740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2" name="Icono arqueo ciego" descr="Icono arqueo cie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311" y="2279599"/>
            <a:ext cx="378562" cy="37856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616952" y="21945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Arqueo ciego SupraData</a:t>
            </a:r>
            <a:endParaRPr lang="en-US" sz="2200" dirty="0"/>
          </a:p>
        </p:txBody>
      </p:sp>
      <p:sp>
        <p:nvSpPr>
          <p:cNvPr id="14" name="Lista arqueo ciego"/>
          <p:cNvSpPr txBox="1"/>
          <p:nvPr/>
        </p:nvSpPr>
        <p:spPr>
          <a:xfrm>
            <a:off x="6611112" y="3246120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No muestra al recepcionista el total esperado antes del cierre.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El recepcionista cuenta el efectivo y reporta la cifra exacta.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Solo entonces el sistema la cruza con las ventas y marca la caja como cuadrada, sobrante o faltante.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AUDITORÍA Y ARQUEO CIEGO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Cierre de turno del cajero</a:t>
            </a:r>
            <a:endParaRPr lang="en-US" sz="3600" dirty="0"/>
          </a:p>
        </p:txBody>
      </p:sp>
      <p:sp>
        <p:nvSpPr>
          <p:cNvPr id="5" name="Conector pasos"/>
          <p:cNvSpPr/>
          <p:nvPr/>
        </p:nvSpPr>
        <p:spPr>
          <a:xfrm>
            <a:off x="914400" y="2240280"/>
            <a:ext cx="90525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6" name="Número paso 1"/>
          <p:cNvSpPr txBox="1"/>
          <p:nvPr/>
        </p:nvSpPr>
        <p:spPr>
          <a:xfrm>
            <a:off x="548640" y="18745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834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Cerrar Turno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5661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Haz clic en el botón superior del módulo de Recepción.</a:t>
            </a:r>
            <a:endParaRPr lang="en-US" sz="1400" dirty="0"/>
          </a:p>
        </p:txBody>
      </p:sp>
      <p:sp>
        <p:nvSpPr>
          <p:cNvPr id="9" name="Número paso 2"/>
          <p:cNvSpPr txBox="1"/>
          <p:nvPr/>
        </p:nvSpPr>
        <p:spPr>
          <a:xfrm>
            <a:off x="2811780" y="18745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2811780" y="2834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Cuenta el efectivo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2811780" y="35661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 calma, todo el dinero físico disponible en el cajón.</a:t>
            </a:r>
            <a:endParaRPr lang="en-US" sz="1400" dirty="0"/>
          </a:p>
        </p:txBody>
      </p:sp>
      <p:sp>
        <p:nvSpPr>
          <p:cNvPr id="12" name="Número paso 3"/>
          <p:cNvSpPr txBox="1"/>
          <p:nvPr/>
        </p:nvSpPr>
        <p:spPr>
          <a:xfrm>
            <a:off x="5074920" y="18745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074920" y="2834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Escribe la cifra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074920" y="35661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Registra el total en la casilla Efectivo Físico Contado.</a:t>
            </a:r>
            <a:endParaRPr lang="en-US" sz="1400" dirty="0"/>
          </a:p>
        </p:txBody>
      </p:sp>
      <p:sp>
        <p:nvSpPr>
          <p:cNvPr id="15" name="Número paso 4"/>
          <p:cNvSpPr txBox="1"/>
          <p:nvPr/>
        </p:nvSpPr>
        <p:spPr>
          <a:xfrm>
            <a:off x="7338060" y="18745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7338060" y="2834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Anota novedades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7338060" y="35661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 hubo billetes deteriorados o monedas especiales, anótalo en observaciones.</a:t>
            </a:r>
            <a:endParaRPr lang="en-US" sz="1400" dirty="0"/>
          </a:p>
        </p:txBody>
      </p:sp>
      <p:sp>
        <p:nvSpPr>
          <p:cNvPr id="18" name="Número paso 5"/>
          <p:cNvSpPr txBox="1"/>
          <p:nvPr/>
        </p:nvSpPr>
        <p:spPr>
          <a:xfrm>
            <a:off x="9601200" y="187452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9601200" y="2834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Confirma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9601200" y="35661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Haz clic en el botón rojo Confirmar y Cerrar Turno.</a:t>
            </a:r>
            <a:endParaRPr lang="en-US" sz="1400" dirty="0"/>
          </a:p>
        </p:txBody>
      </p:sp>
      <p:sp>
        <p:nvSpPr>
          <p:cNvPr id="21" name="Aviso arqueo ciego"/>
          <p:cNvSpPr/>
          <p:nvPr/>
        </p:nvSpPr>
        <p:spPr>
          <a:xfrm>
            <a:off x="548640" y="5303520"/>
            <a:ext cx="11091672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14400" y="530352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Recuerda: el sistema no muestra el total esperado hasta que registres tu cifra contada.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AUDITORÍA Y ARQUEO CIEGO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Cómo se detectan los descuadres</a:t>
            </a:r>
            <a:endParaRPr lang="en-US" sz="3600" dirty="0"/>
          </a:p>
        </p:txBody>
      </p:sp>
      <p:sp>
        <p:nvSpPr>
          <p:cNvPr id="5" name="Fórmula efectivo esperado"/>
          <p:cNvSpPr/>
          <p:nvPr/>
        </p:nvSpPr>
        <p:spPr>
          <a:xfrm>
            <a:off x="548640" y="1737360"/>
            <a:ext cx="5486400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EFECTIVO ESPERADO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3774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Base inicial + Ventas en efectivo − Gastos menores</a:t>
            </a:r>
            <a:endParaRPr lang="en-US" sz="2200" dirty="0"/>
          </a:p>
        </p:txBody>
      </p:sp>
      <p:sp>
        <p:nvSpPr>
          <p:cNvPr id="8" name="Fórmula diferencia"/>
          <p:cNvSpPr/>
          <p:nvPr/>
        </p:nvSpPr>
        <p:spPr>
          <a:xfrm>
            <a:off x="548640" y="3931920"/>
            <a:ext cx="548640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4160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DIFERENCIA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5720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Efectivo contado por el cajero − Efectivo esperado</a:t>
            </a:r>
            <a:endParaRPr lang="en-US" sz="2200" dirty="0"/>
          </a:p>
        </p:txBody>
      </p:sp>
      <p:sp>
        <p:nvSpPr>
          <p:cNvPr id="11" name="Tarjeta Diferencia = $0"/>
          <p:cNvSpPr/>
          <p:nvPr/>
        </p:nvSpPr>
        <p:spPr>
          <a:xfrm>
            <a:off x="6355080" y="1737360"/>
            <a:ext cx="5285232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2" name="Icono Diferencia = $0 (fondo)"/>
          <p:cNvSpPr/>
          <p:nvPr/>
        </p:nvSpPr>
        <p:spPr>
          <a:xfrm>
            <a:off x="6629400" y="20116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o Diferencia = $0" descr="Icono Diferencia = $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6910" y="2209190"/>
            <a:ext cx="336499" cy="33649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589520" y="1920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Diferencia = $0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7589520" y="23317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Turno perfectamente cuadrado.</a:t>
            </a:r>
            <a:endParaRPr lang="en-US" sz="1400" dirty="0"/>
          </a:p>
        </p:txBody>
      </p:sp>
      <p:sp>
        <p:nvSpPr>
          <p:cNvPr id="16" name="Tarjeta Diferencia &lt; $0 · Faltante"/>
          <p:cNvSpPr/>
          <p:nvPr/>
        </p:nvSpPr>
        <p:spPr>
          <a:xfrm>
            <a:off x="6355080" y="3200400"/>
            <a:ext cx="5285232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7" name="Icono Diferencia &lt; $0 · Faltante (fondo)"/>
          <p:cNvSpPr/>
          <p:nvPr/>
        </p:nvSpPr>
        <p:spPr>
          <a:xfrm>
            <a:off x="6629400" y="347472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cono Diferencia &lt; $0 · Faltante" descr="Icono Diferencia &lt; $0 · Faltan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910" y="3672230"/>
            <a:ext cx="336499" cy="33649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589520" y="3383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Diferencia &lt; $0 · Faltante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7589520" y="37947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Faltó dinero en el cajón frente a las ventas del sistema.</a:t>
            </a:r>
            <a:endParaRPr lang="en-US" sz="1400" dirty="0"/>
          </a:p>
        </p:txBody>
      </p:sp>
      <p:sp>
        <p:nvSpPr>
          <p:cNvPr id="21" name="Tarjeta Diferencia &gt; $0 · Sobrante"/>
          <p:cNvSpPr/>
          <p:nvPr/>
        </p:nvSpPr>
        <p:spPr>
          <a:xfrm>
            <a:off x="6355080" y="4663440"/>
            <a:ext cx="5285232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22" name="Icono Diferencia &gt; $0 · Sobrante (fondo)"/>
          <p:cNvSpPr/>
          <p:nvPr/>
        </p:nvSpPr>
        <p:spPr>
          <a:xfrm>
            <a:off x="6629400" y="493776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3" name="Icono Diferencia &gt; $0 · Sobrante" descr="Icono Diferencia &gt; $0 · Sobran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6910" y="5135270"/>
            <a:ext cx="336499" cy="336499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589520" y="4846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Diferencia &gt; $0 · Sobrante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7589520" y="5257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Hay más dinero del registrado: posible venta cobrada sin facturar en el software.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AUDITORÍA Y ARQUEO CIEGO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Anulación de cobros auditada</a:t>
            </a:r>
            <a:endParaRPr lang="en-US" sz="3600" dirty="0"/>
          </a:p>
        </p:txBody>
      </p:sp>
      <p:sp>
        <p:nvSpPr>
          <p:cNvPr id="5" name="Tarjeta anulación"/>
          <p:cNvSpPr/>
          <p:nvPr/>
        </p:nvSpPr>
        <p:spPr>
          <a:xfrm>
            <a:off x="548640" y="1737360"/>
            <a:ext cx="3566160" cy="429768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</p:sp>
      <p:sp>
        <p:nvSpPr>
          <p:cNvPr id="6" name="Icono anulación (fondo)"/>
          <p:cNvSpPr/>
          <p:nvPr/>
        </p:nvSpPr>
        <p:spPr>
          <a:xfrm>
            <a:off x="1005840" y="2194560"/>
            <a:ext cx="1280160" cy="12801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Icono anulación" descr="Icono anula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483" y="2540203"/>
            <a:ext cx="588874" cy="58887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05840" y="38404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¿Un cobro se registró por error?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1005840" y="48920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Se anula con trazabilidad completa; nunca se borra.</a:t>
            </a:r>
            <a:endParaRPr lang="en-US" sz="1500" dirty="0"/>
          </a:p>
        </p:txBody>
      </p:sp>
      <p:sp>
        <p:nvSpPr>
          <p:cNvPr id="10" name="Tarjeta Solo Propietario / Administrador"/>
          <p:cNvSpPr/>
          <p:nvPr/>
        </p:nvSpPr>
        <p:spPr>
          <a:xfrm>
            <a:off x="4389120" y="1737360"/>
            <a:ext cx="7251192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1" name="Icono Solo Propietario / Administrador (fondo)"/>
          <p:cNvSpPr/>
          <p:nvPr/>
        </p:nvSpPr>
        <p:spPr>
          <a:xfrm>
            <a:off x="4663440" y="20116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o Solo Propietario / Administrador" descr="Icono Solo Propietario / Administrad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950" y="2209190"/>
            <a:ext cx="336499" cy="33649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623560" y="19202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Solo Propietario / Administrador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5623560" y="233172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Únicamente quienes tienen este rol pueden realizar anulaciones.</a:t>
            </a:r>
            <a:endParaRPr lang="en-US" sz="1400" dirty="0"/>
          </a:p>
        </p:txBody>
      </p:sp>
      <p:sp>
        <p:nvSpPr>
          <p:cNvPr id="15" name="Tarjeta Motivo obligatorio"/>
          <p:cNvSpPr/>
          <p:nvPr/>
        </p:nvSpPr>
        <p:spPr>
          <a:xfrm>
            <a:off x="4389120" y="3200400"/>
            <a:ext cx="7251192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6" name="Icono Motivo obligatorio (fondo)"/>
          <p:cNvSpPr/>
          <p:nvPr/>
        </p:nvSpPr>
        <p:spPr>
          <a:xfrm>
            <a:off x="4663440" y="34747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cono Motivo obligatorio" descr="Icono Motivo obligatori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950" y="3672230"/>
            <a:ext cx="336499" cy="336499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623560" y="33832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Motivo obligatorio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5623560" y="379476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sistema exige escribir el Motivo de la Anulación.</a:t>
            </a:r>
            <a:endParaRPr lang="en-US" sz="1400" dirty="0"/>
          </a:p>
        </p:txBody>
      </p:sp>
      <p:sp>
        <p:nvSpPr>
          <p:cNvPr id="20" name="Tarjeta Queda en el historial"/>
          <p:cNvSpPr/>
          <p:nvPr/>
        </p:nvSpPr>
        <p:spPr>
          <a:xfrm>
            <a:off x="4389120" y="4663440"/>
            <a:ext cx="7251192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21" name="Icono Queda en el historial (fondo)"/>
          <p:cNvSpPr/>
          <p:nvPr/>
        </p:nvSpPr>
        <p:spPr>
          <a:xfrm>
            <a:off x="4663440" y="493776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2" name="Icono Queda en el historial" descr="Icono Queda en el histori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950" y="5135270"/>
            <a:ext cx="336499" cy="336499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623560" y="48463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Queda en el historial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5623560" y="525780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transacción se marca como Anulada y conserva quién la registró y quién la anuló.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SOCIOS Y WHATSAPP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Dar de alta a un nuevo socio</a:t>
            </a:r>
            <a:endParaRPr lang="en-US" sz="3600" dirty="0"/>
          </a:p>
        </p:txBody>
      </p:sp>
      <p:sp>
        <p:nvSpPr>
          <p:cNvPr id="5" name="Tarjeta pasos alta"/>
          <p:cNvSpPr/>
          <p:nvPr/>
        </p:nvSpPr>
        <p:spPr>
          <a:xfrm>
            <a:off x="548640" y="1737360"/>
            <a:ext cx="502920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Pasos</a:t>
            </a:r>
            <a:endParaRPr lang="en-US" sz="2000" dirty="0"/>
          </a:p>
        </p:txBody>
      </p:sp>
      <p:sp>
        <p:nvSpPr>
          <p:cNvPr id="7" name="Lista pasos alta"/>
          <p:cNvSpPr txBox="1"/>
          <p:nvPr/>
        </p:nvSpPr>
        <p:spPr>
          <a:xfrm>
            <a:off x="914400" y="2560320"/>
            <a:ext cx="4297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Entra a Miembros, en el menú superior.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Haz clic en + NUEVO SOCIO.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Diligencia los campos requeridos.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Haz clic en Guardar Socio.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El sistema crea la ficha, la suscripción y un carnet digital con enlace único y privado.</a:t>
            </a:r>
            <a:endParaRPr lang="en-US" sz="1600" dirty="0"/>
          </a:p>
        </p:txBody>
      </p:sp>
      <p:sp>
        <p:nvSpPr>
          <p:cNvPr id="8" name="Tarjeta campos"/>
          <p:cNvSpPr/>
          <p:nvPr/>
        </p:nvSpPr>
        <p:spPr>
          <a:xfrm>
            <a:off x="5852160" y="1737360"/>
            <a:ext cx="5788152" cy="4297680"/>
          </a:xfrm>
          <a:prstGeom prst="roundRect">
            <a:avLst>
              <a:gd name="adj" fmla="val 2553"/>
            </a:avLst>
          </a:prstGeom>
          <a:solidFill>
            <a:schemeClr val="tx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26364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Campos requeridos</a:t>
            </a:r>
            <a:endParaRPr lang="en-US" sz="2000" dirty="0"/>
          </a:p>
        </p:txBody>
      </p:sp>
      <p:sp>
        <p:nvSpPr>
          <p:cNvPr id="10" name="Lista campos"/>
          <p:cNvSpPr txBox="1"/>
          <p:nvPr/>
        </p:nvSpPr>
        <p:spPr>
          <a:xfrm>
            <a:off x="6263640" y="260604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accent6"/>
                </a:solidFill>
              </a:rPr>
              <a:t>Nombre completo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 — nombres y apellidos.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accent6"/>
                </a:solidFill>
              </a:rPr>
              <a:t>Documento (cédula)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 — identificación única; evita duplicados.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accent6"/>
                </a:solidFill>
              </a:rPr>
              <a:t>Teléfono celular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 — clave para recordatorios y carnet.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accent6"/>
                </a:solidFill>
              </a:rPr>
              <a:t>Plan inicial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 — ej. Mensualidad Estándar o Plan Trimestral.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accent6"/>
                </a:solidFill>
              </a:rPr>
              <a:t>Fotografía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 — sube un archivo o usa la cámara.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SOCIOS Y WHATSAPP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El carnet digital del socio</a:t>
            </a:r>
            <a:endParaRPr lang="en-US" sz="3600" dirty="0"/>
          </a:p>
        </p:txBody>
      </p:sp>
      <p:sp>
        <p:nvSpPr>
          <p:cNvPr id="5" name="Marco teléfono"/>
          <p:cNvSpPr/>
          <p:nvPr/>
        </p:nvSpPr>
        <p:spPr>
          <a:xfrm>
            <a:off x="822960" y="1645920"/>
            <a:ext cx="2834640" cy="4480560"/>
          </a:xfrm>
          <a:prstGeom prst="roundRect">
            <a:avLst>
              <a:gd name="adj" fmla="val 9677"/>
            </a:avLst>
          </a:prstGeom>
          <a:solidFill>
            <a:schemeClr val="tx1"/>
          </a:solidFill>
          <a:ln/>
        </p:spPr>
      </p:sp>
      <p:sp>
        <p:nvSpPr>
          <p:cNvPr id="6" name="Pantalla teléfono"/>
          <p:cNvSpPr/>
          <p:nvPr/>
        </p:nvSpPr>
        <p:spPr>
          <a:xfrm>
            <a:off x="960120" y="1874520"/>
            <a:ext cx="2560320" cy="40233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pic>
        <p:nvPicPr>
          <p:cNvPr id="7" name="QR teléfono" descr="Código Q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240280"/>
            <a:ext cx="1280160" cy="12801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3703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Carnet digital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960120" y="4572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Aforo en las últimas 2 horas</a:t>
            </a:r>
            <a:endParaRPr lang="en-US" sz="1200" dirty="0"/>
          </a:p>
        </p:txBody>
      </p:sp>
      <p:sp>
        <p:nvSpPr>
          <p:cNvPr id="10" name="Barra aforo fondo"/>
          <p:cNvSpPr/>
          <p:nvPr/>
        </p:nvSpPr>
        <p:spPr>
          <a:xfrm>
            <a:off x="1325880" y="5029200"/>
            <a:ext cx="1828800" cy="201168"/>
          </a:xfrm>
          <a:prstGeom prst="roundRect">
            <a:avLst>
              <a:gd name="adj" fmla="val 45455"/>
            </a:avLst>
          </a:prstGeom>
          <a:solidFill>
            <a:schemeClr val="tx1"/>
          </a:solidFill>
          <a:ln/>
        </p:spPr>
      </p:sp>
      <p:sp>
        <p:nvSpPr>
          <p:cNvPr id="11" name="Barra aforo"/>
          <p:cNvSpPr/>
          <p:nvPr/>
        </p:nvSpPr>
        <p:spPr>
          <a:xfrm>
            <a:off x="1325880" y="5029200"/>
            <a:ext cx="1097280" cy="201168"/>
          </a:xfrm>
          <a:prstGeom prst="roundRect">
            <a:avLst>
              <a:gd name="adj" fmla="val 45455"/>
            </a:avLst>
          </a:prstGeom>
          <a:solidFill>
            <a:schemeClr val="accent2"/>
          </a:solidFill>
          <a:ln/>
        </p:spPr>
      </p:sp>
      <p:sp>
        <p:nvSpPr>
          <p:cNvPr id="12" name="Tarjeta Sin necesidad de app"/>
          <p:cNvSpPr/>
          <p:nvPr/>
        </p:nvSpPr>
        <p:spPr>
          <a:xfrm>
            <a:off x="4206240" y="1737360"/>
            <a:ext cx="7434072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3" name="Icono Sin necesidad de app (fondo)"/>
          <p:cNvSpPr/>
          <p:nvPr/>
        </p:nvSpPr>
        <p:spPr>
          <a:xfrm>
            <a:off x="4480560" y="20116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o Sin necesidad de app" descr="Icono Sin necesidad de ap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070" y="2209190"/>
            <a:ext cx="336499" cy="33649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440680" y="1920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Sin necesidad de app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5440680" y="23317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socio solo abre su enlace único y privado en Chrome o Safari.</a:t>
            </a:r>
            <a:endParaRPr lang="en-US" sz="1400" dirty="0"/>
          </a:p>
        </p:txBody>
      </p:sp>
      <p:sp>
        <p:nvSpPr>
          <p:cNvPr id="17" name="Tarjeta Código QR dinámico"/>
          <p:cNvSpPr/>
          <p:nvPr/>
        </p:nvSpPr>
        <p:spPr>
          <a:xfrm>
            <a:off x="4206240" y="3200400"/>
            <a:ext cx="7434072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8" name="Icono Código QR dinámico (fondo)"/>
          <p:cNvSpPr/>
          <p:nvPr/>
        </p:nvSpPr>
        <p:spPr>
          <a:xfrm>
            <a:off x="4480560" y="347472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9" name="Icono Código QR dinámico" descr="Icono Código QR dinámic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070" y="3672230"/>
            <a:ext cx="336499" cy="336499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440680" y="33832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Código QR dinámico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5440680" y="379476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Refresca su validez periódicamente para evitar clonaciones o capturas de pantalla compartidas.</a:t>
            </a:r>
            <a:endParaRPr lang="en-US" sz="1400" dirty="0"/>
          </a:p>
        </p:txBody>
      </p:sp>
      <p:sp>
        <p:nvSpPr>
          <p:cNvPr id="22" name="Tarjeta Termómetro de aforo en vivo"/>
          <p:cNvSpPr/>
          <p:nvPr/>
        </p:nvSpPr>
        <p:spPr>
          <a:xfrm>
            <a:off x="4206240" y="4663440"/>
            <a:ext cx="7434072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23" name="Icono Termómetro de aforo en vivo (fondo)"/>
          <p:cNvSpPr/>
          <p:nvPr/>
        </p:nvSpPr>
        <p:spPr>
          <a:xfrm>
            <a:off x="4480560" y="493776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Icono Termómetro de aforo en vivo" descr="Icono Termómetro de aforo en viv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8070" y="5135270"/>
            <a:ext cx="336499" cy="336499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440680" y="4846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Termómetro de aforo en vivo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5440680" y="525780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Muestra la ocupación de las últimas 2 horas para elegir el mejor horario de entrenamiento.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SOCIOS Y WHATSAPP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Motor de recuperación de socios</a:t>
            </a:r>
            <a:endParaRPr lang="en-US" sz="3600" dirty="0"/>
          </a:p>
        </p:txBody>
      </p:sp>
      <p:sp>
        <p:nvSpPr>
          <p:cNvPr id="5" name="Subtítulo"/>
          <p:cNvSpPr txBox="1"/>
          <p:nvPr/>
        </p:nvSpPr>
        <p:spPr>
          <a:xfrm>
            <a:off x="548640" y="14630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Cada socio de la lista de Miembros tiene una etiqueta de salud de retención.</a:t>
            </a:r>
            <a:endParaRPr lang="en-US" sz="1600" dirty="0"/>
          </a:p>
        </p:txBody>
      </p:sp>
      <p:graphicFrame>
        <p:nvGraphicFramePr>
          <p:cNvPr id="19" name="Tabla estados de retenció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89120"/>
                <a:gridCol w="43251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Estado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Significado operativo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Acción recomendada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Saludable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Membresía activa con más de 5 días de vigencia y asistencias recientes.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Enviar el carnet digital o una felicitación de progreso.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En riesgo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Membresía a punto de vencer (en 5 días o menos).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Enviar un mensaje preventivo de renovación de cortesía.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Crítico / Inactivo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Membresía vencida o socio que no asiste hace más de 10 días.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Contactar con una oferta de reactivación personalizada.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SOCIOS Y WHATSAPP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Recordatorio por WhatsApp en 1 clic</a:t>
            </a:r>
            <a:endParaRPr lang="en-US" sz="3600" dirty="0"/>
          </a:p>
        </p:txBody>
      </p:sp>
      <p:sp>
        <p:nvSpPr>
          <p:cNvPr id="5" name="Tarjeta paso 1"/>
          <p:cNvSpPr/>
          <p:nvPr/>
        </p:nvSpPr>
        <p:spPr>
          <a:xfrm>
            <a:off x="548640" y="1737360"/>
            <a:ext cx="57607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6" name="Número paso 1"/>
          <p:cNvSpPr txBox="1"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8288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Ubica al socio en la tabla de Miembros.</a:t>
            </a:r>
            <a:endParaRPr lang="en-US" sz="1500" dirty="0"/>
          </a:p>
        </p:txBody>
      </p:sp>
      <p:sp>
        <p:nvSpPr>
          <p:cNvPr id="8" name="Tarjeta paso 2"/>
          <p:cNvSpPr/>
          <p:nvPr/>
        </p:nvSpPr>
        <p:spPr>
          <a:xfrm>
            <a:off x="548640" y="2834640"/>
            <a:ext cx="57607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9" name="Número paso 2"/>
          <p:cNvSpPr txBox="1"/>
          <p:nvPr/>
        </p:nvSpPr>
        <p:spPr>
          <a:xfrm>
            <a:off x="777240" y="3017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2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554480" y="29260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Haz clic en el botón verde WhatsApp.</a:t>
            </a:r>
            <a:endParaRPr lang="en-US" sz="1500" dirty="0"/>
          </a:p>
        </p:txBody>
      </p:sp>
      <p:sp>
        <p:nvSpPr>
          <p:cNvPr id="11" name="Tarjeta paso 3"/>
          <p:cNvSpPr/>
          <p:nvPr/>
        </p:nvSpPr>
        <p:spPr>
          <a:xfrm>
            <a:off x="548640" y="3931920"/>
            <a:ext cx="57607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2" name="Número paso 3"/>
          <p:cNvSpPr txBox="1"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3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554480" y="40233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 abre WhatsApp (celular o Web) con el número y un mensaje listo, con su nombre y la fecha exacta.</a:t>
            </a:r>
            <a:endParaRPr lang="en-US" sz="1500" dirty="0"/>
          </a:p>
        </p:txBody>
      </p:sp>
      <p:sp>
        <p:nvSpPr>
          <p:cNvPr id="14" name="Tarjeta paso 4"/>
          <p:cNvSpPr/>
          <p:nvPr/>
        </p:nvSpPr>
        <p:spPr>
          <a:xfrm>
            <a:off x="548640" y="5029200"/>
            <a:ext cx="57607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5" name="Número paso 4"/>
          <p:cNvSpPr txBox="1"/>
          <p:nvPr/>
        </p:nvSpPr>
        <p:spPr>
          <a:xfrm>
            <a:off x="777240" y="521208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4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1554480" y="51206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Solo pulsa Enviar.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67512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EJEMPLO · SOCIO EN RIESGO</a:t>
            </a:r>
            <a:endParaRPr lang="en-US" sz="1200" dirty="0"/>
          </a:p>
        </p:txBody>
      </p:sp>
      <p:sp>
        <p:nvSpPr>
          <p:cNvPr id="18" name="Burbuja mensaje en riesgo"/>
          <p:cNvSpPr/>
          <p:nvPr/>
        </p:nvSpPr>
        <p:spPr>
          <a:xfrm>
            <a:off x="6675120" y="2103120"/>
            <a:ext cx="4965192" cy="1600200"/>
          </a:xfrm>
          <a:prstGeom prst="roundRect">
            <a:avLst>
              <a:gd name="adj" fmla="val 6857"/>
            </a:avLst>
          </a:prstGeom>
          <a:solidFill>
            <a:schemeClr val="accent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995160" y="2240280"/>
            <a:ext cx="4343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Hola Carlos Gómez, te escribimos del gimnasio. Notamos que tu membresía vence pronto (15/10/2026). ¿Deseas renovar tu plan?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675120" y="4023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EJEMPLO · ENVÍO DE CARNET</a:t>
            </a:r>
            <a:endParaRPr lang="en-US" sz="1200" dirty="0"/>
          </a:p>
        </p:txBody>
      </p:sp>
      <p:sp>
        <p:nvSpPr>
          <p:cNvPr id="21" name="Burbuja mensaje carnet"/>
          <p:cNvSpPr/>
          <p:nvPr/>
        </p:nvSpPr>
        <p:spPr>
          <a:xfrm>
            <a:off x="6675120" y="4389120"/>
            <a:ext cx="4965192" cy="164592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995160" y="4526280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Hola Carlos Gómez, aquí tienes tu carnet digital de acceso al gimnasio: https://tudominio.com/pass/abc123xyz. Preséntalo en recepción para ingresar.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BUENAS PRÁCTICAS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Rutina diaria recomendada</a:t>
            </a:r>
            <a:endParaRPr lang="en-US" sz="3600" dirty="0"/>
          </a:p>
        </p:txBody>
      </p:sp>
      <p:sp>
        <p:nvSpPr>
          <p:cNvPr id="5" name="Tarjeta Al iniciar la jornada"/>
          <p:cNvSpPr/>
          <p:nvPr/>
        </p:nvSpPr>
        <p:spPr>
          <a:xfrm>
            <a:off x="548640" y="1737360"/>
            <a:ext cx="3474720" cy="42976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6" name="Icono Al iniciar la jornada (fondo)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o Al iniciar la jornada" descr="Icono Al iniciar la jorna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2209190"/>
            <a:ext cx="336499" cy="336499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2057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Al iniciar la jornada</a:t>
            </a:r>
            <a:endParaRPr lang="en-US" sz="1900" dirty="0"/>
          </a:p>
        </p:txBody>
      </p:sp>
      <p:sp>
        <p:nvSpPr>
          <p:cNvPr id="9" name="Lista Al iniciar la jornada"/>
          <p:cNvSpPr txBox="1"/>
          <p:nvPr/>
        </p:nvSpPr>
        <p:spPr>
          <a:xfrm>
            <a:off x="822960" y="310896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Abre el módulo de Recepción.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Cuenta la base de efectivo e inicia el turno con el monto exacto.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Verifica que la cámara o el lector QR estén conectados y respondiendo.</a:t>
            </a:r>
            <a:endParaRPr lang="en-US" sz="1500" dirty="0"/>
          </a:p>
        </p:txBody>
      </p:sp>
      <p:sp>
        <p:nvSpPr>
          <p:cNvPr id="10" name="Tarjeta Durante la jornada"/>
          <p:cNvSpPr/>
          <p:nvPr/>
        </p:nvSpPr>
        <p:spPr>
          <a:xfrm>
            <a:off x="4357116" y="1737360"/>
            <a:ext cx="3474720" cy="42976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1" name="Icono Durante la jornada (fondo)"/>
          <p:cNvSpPr/>
          <p:nvPr/>
        </p:nvSpPr>
        <p:spPr>
          <a:xfrm>
            <a:off x="4631436" y="20116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o Durante la jornada" descr="Icono Durante la jornad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946" y="2209190"/>
            <a:ext cx="336499" cy="33649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545836" y="2057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Durante la jornada</a:t>
            </a:r>
            <a:endParaRPr lang="en-US" sz="1900" dirty="0"/>
          </a:p>
        </p:txBody>
      </p:sp>
      <p:sp>
        <p:nvSpPr>
          <p:cNvPr id="14" name="Lista Durante la jornada"/>
          <p:cNvSpPr txBox="1"/>
          <p:nvPr/>
        </p:nvSpPr>
        <p:spPr>
          <a:xfrm>
            <a:off x="4631436" y="310896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Registra cada acceso, sin excepción.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En transferencias, pide el comprobante y anota el número de aprobación.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Registra de inmediato cualquier salida de dinero por gastos menores.</a:t>
            </a:r>
            <a:endParaRPr lang="en-US" sz="1500" dirty="0"/>
          </a:p>
        </p:txBody>
      </p:sp>
      <p:sp>
        <p:nvSpPr>
          <p:cNvPr id="15" name="Tarjeta Al finalizar el turno"/>
          <p:cNvSpPr/>
          <p:nvPr/>
        </p:nvSpPr>
        <p:spPr>
          <a:xfrm>
            <a:off x="8165592" y="1737360"/>
            <a:ext cx="3474720" cy="42976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6" name="Icono Al finalizar el turno (fondo)"/>
          <p:cNvSpPr/>
          <p:nvPr/>
        </p:nvSpPr>
        <p:spPr>
          <a:xfrm>
            <a:off x="8439912" y="201168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Icono Al finalizar el turno" descr="Icono Al finalizar el turn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422" y="2209190"/>
            <a:ext cx="336499" cy="336499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354312" y="2057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Al finalizar el turno</a:t>
            </a:r>
            <a:endParaRPr lang="en-US" sz="1900" dirty="0"/>
          </a:p>
        </p:txBody>
      </p:sp>
      <p:sp>
        <p:nvSpPr>
          <p:cNvPr id="19" name="Lista Al finalizar el turno"/>
          <p:cNvSpPr txBox="1"/>
          <p:nvPr/>
        </p:nvSpPr>
        <p:spPr>
          <a:xfrm>
            <a:off x="8439912" y="310896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Cuenta físicamente billetes y monedas.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Haz el arqueo ciego con el efectivo contado.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Cierra sesión para que el siguiente recepcionista abra su turno.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BUENAS PRÁCTICAS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Preguntas frecuentes</a:t>
            </a:r>
            <a:endParaRPr lang="en-US" sz="3600" dirty="0"/>
          </a:p>
        </p:txBody>
      </p:sp>
      <p:sp>
        <p:nvSpPr>
          <p:cNvPr id="5" name="Tarjeta pregunta 1"/>
          <p:cNvSpPr/>
          <p:nvPr/>
        </p:nvSpPr>
        <p:spPr>
          <a:xfrm>
            <a:off x="548640" y="1691640"/>
            <a:ext cx="53949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6" name="Icono pregunta 1 (fondo)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o pregunta 1" descr="Icono pregunta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748" y="2101748"/>
            <a:ext cx="231343" cy="23134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659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¿La cámara no se enciende?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6517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Revisa que los permisos de cámara estén en «Permitir» en la barra del navegador. Prueba Cambiar a Trasera / Frontal o reinicia el navegador.</a:t>
            </a:r>
            <a:endParaRPr lang="en-US" sz="1400" dirty="0"/>
          </a:p>
        </p:txBody>
      </p:sp>
      <p:sp>
        <p:nvSpPr>
          <p:cNvPr id="10" name="Tarjeta pregunta 2"/>
          <p:cNvSpPr/>
          <p:nvPr/>
        </p:nvSpPr>
        <p:spPr>
          <a:xfrm>
            <a:off x="6245352" y="1691640"/>
            <a:ext cx="53949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1" name="Icono pregunta 2 (fondo)"/>
          <p:cNvSpPr/>
          <p:nvPr/>
        </p:nvSpPr>
        <p:spPr>
          <a:xfrm>
            <a:off x="6519672" y="1965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o pregunta 2" descr="Icono pregunta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460" y="2101748"/>
            <a:ext cx="231343" cy="23134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05472" y="19659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¿Un socio llega sin su celular?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519672" y="26517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Escribe su cédula en la barra de búsqueda de recepción y pulsa Validar Acceso: el sistema valida su estado de inmediato.</a:t>
            </a:r>
            <a:endParaRPr lang="en-US" sz="1400" dirty="0"/>
          </a:p>
        </p:txBody>
      </p:sp>
      <p:sp>
        <p:nvSpPr>
          <p:cNvPr id="15" name="Tarjeta pregunta 3"/>
          <p:cNvSpPr/>
          <p:nvPr/>
        </p:nvSpPr>
        <p:spPr>
          <a:xfrm>
            <a:off x="548640" y="4023360"/>
            <a:ext cx="53949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6" name="Icono pregunta 3 (fondo)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o pregunta 3" descr="Icono pregunta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748" y="4433468"/>
            <a:ext cx="231343" cy="23134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42976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¿El recepcionista ve las ganancias del mes?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822960" y="49834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No. La analítica financiera mensual es exclusiva del rol Administrador / Propietario (Owner).</a:t>
            </a:r>
            <a:endParaRPr lang="en-US" sz="1400" dirty="0"/>
          </a:p>
        </p:txBody>
      </p:sp>
      <p:sp>
        <p:nvSpPr>
          <p:cNvPr id="20" name="Tarjeta pregunta 4"/>
          <p:cNvSpPr/>
          <p:nvPr/>
        </p:nvSpPr>
        <p:spPr>
          <a:xfrm>
            <a:off x="6245352" y="4023360"/>
            <a:ext cx="53949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1" name="Icono pregunta 4 (fondo)"/>
          <p:cNvSpPr/>
          <p:nvPr/>
        </p:nvSpPr>
        <p:spPr>
          <a:xfrm>
            <a:off x="6519672" y="42976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cono pregunta 4" descr="Icono pregunta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460" y="4433468"/>
            <a:ext cx="231343" cy="231343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205472" y="42976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¿Cómo se manejan pagos mixtos o abonos?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6519672" y="49834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Asocia el cobro a un método predominante (efectivo o transferencia). En un pago parcial, registra el abono y anota el saldo restante en notas.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182880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Opera con control, retén con un clic</a:t>
            </a:r>
            <a:endParaRPr lang="en-US" sz="4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411480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Para soporte técnico adicional, contacta al administrador de infraestructura de tu sede.</a:t>
            </a:r>
            <a:endParaRPr lang="en-US" sz="1800" dirty="0"/>
          </a:p>
        </p:txBody>
      </p:sp>
      <p:sp>
        <p:nvSpPr>
          <p:cNvPr id="4" name="Icono Acceso blindado (fondo)"/>
          <p:cNvSpPr/>
          <p:nvPr/>
        </p:nvSpPr>
        <p:spPr>
          <a:xfrm>
            <a:off x="8138160" y="155448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o Acceso blindado" descr="Icono Acceso blind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9737" y="1826057"/>
            <a:ext cx="462686" cy="46268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372600" y="15544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Acceso blindado</a:t>
            </a:r>
            <a:endParaRPr lang="en-US" sz="2200" dirty="0"/>
          </a:p>
        </p:txBody>
      </p:sp>
      <p:sp>
        <p:nvSpPr>
          <p:cNvPr id="7" name="Icono Caja sin fugas (fondo)"/>
          <p:cNvSpPr/>
          <p:nvPr/>
        </p:nvSpPr>
        <p:spPr>
          <a:xfrm>
            <a:off x="8138160" y="3017520"/>
            <a:ext cx="1005840" cy="10058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8" name="Icono Caja sin fugas" descr="Icono Caja sin fug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9737" y="3289097"/>
            <a:ext cx="462686" cy="46268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372600" y="30175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Caja sin fugas</a:t>
            </a:r>
            <a:endParaRPr lang="en-US" sz="2200" dirty="0"/>
          </a:p>
        </p:txBody>
      </p:sp>
      <p:sp>
        <p:nvSpPr>
          <p:cNvPr id="10" name="Icono Socios que renuevan (fondo)"/>
          <p:cNvSpPr/>
          <p:nvPr/>
        </p:nvSpPr>
        <p:spPr>
          <a:xfrm>
            <a:off x="8138160" y="4480560"/>
            <a:ext cx="1005840" cy="10058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Icono Socios que renuevan" descr="Icono Socios que renueva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737" y="4752137"/>
            <a:ext cx="462686" cy="46268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372600" y="44805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Socios que renuevan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praData">
  <a:themeElements>
    <a:clrScheme name="SupraData">
      <a:dk1>
        <a:srgbClr val="17212B"/>
      </a:dk1>
      <a:lt1>
        <a:srgbClr val="FFFFFF"/>
      </a:lt1>
      <a:dk2>
        <a:srgbClr val="0F3D33"/>
      </a:dk2>
      <a:lt2>
        <a:srgbClr val="EEF3F1"/>
      </a:lt2>
      <a:accent1>
        <a:srgbClr val="047857"/>
      </a:accent1>
      <a:accent2>
        <a:srgbClr val="F59E0B"/>
      </a:accent2>
      <a:accent3>
        <a:srgbClr val="DC2626"/>
      </a:accent3>
      <a:accent4>
        <a:srgbClr val="2563EB"/>
      </a:accent4>
      <a:accent5>
        <a:srgbClr val="4B5563"/>
      </a:accent5>
      <a:accent6>
        <a:srgbClr val="84CC16"/>
      </a:accent6>
      <a:hlink>
        <a:srgbClr val="047857"/>
      </a:hlink>
      <a:folHlink>
        <a:srgbClr val="4B5563"/>
      </a:folHlink>
    </a:clrScheme>
    <a:fontScheme name="SupraDat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SupraData — Manual de usuario y guía operativa</dc:title>
  <dc:subject>PptxGenJS Presentation</dc:subject>
  <dc:creator>PptxGenJS</dc:creator>
  <cp:lastModifiedBy>PptxGenJS</cp:lastModifiedBy>
  <cp:revision>1</cp:revision>
  <dcterms:created xsi:type="dcterms:W3CDTF">2026-10-12T04:36:19Z</dcterms:created>
  <dcterms:modified xsi:type="dcterms:W3CDTF">2026-10-12T04:36:19Z</dcterms:modified>
</cp:coreProperties>
</file>